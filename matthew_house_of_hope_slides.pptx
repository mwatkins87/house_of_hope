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2"/>
  </p:notesMasterIdLst>
  <p:handoutMasterIdLst>
    <p:handoutMasterId r:id="rId13"/>
  </p:handoutMasterIdLst>
  <p:sldIdLst>
    <p:sldId id="283" r:id="rId5"/>
    <p:sldId id="264" r:id="rId6"/>
    <p:sldId id="297" r:id="rId7"/>
    <p:sldId id="289" r:id="rId8"/>
    <p:sldId id="299" r:id="rId9"/>
    <p:sldId id="287" r:id="rId10"/>
    <p:sldId id="29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5388" autoAdjust="0"/>
  </p:normalViewPr>
  <p:slideViewPr>
    <p:cSldViewPr snapToGrid="0" showGuides="1">
      <p:cViewPr varScale="1">
        <p:scale>
          <a:sx n="68" d="100"/>
          <a:sy n="68" d="100"/>
        </p:scale>
        <p:origin x="966" y="60"/>
      </p:cViewPr>
      <p:guideLst/>
    </p:cSldViewPr>
  </p:slideViewPr>
  <p:outlineViewPr>
    <p:cViewPr>
      <p:scale>
        <a:sx n="33" d="100"/>
        <a:sy n="33" d="100"/>
      </p:scale>
      <p:origin x="0" y="-4982"/>
    </p:cViewPr>
  </p:outlineViewPr>
  <p:notesTextViewPr>
    <p:cViewPr>
      <p:scale>
        <a:sx n="1" d="1"/>
        <a:sy n="1" d="1"/>
      </p:scale>
      <p:origin x="0" y="0"/>
    </p:cViewPr>
  </p:notesTextViewPr>
  <p:sorterViewPr>
    <p:cViewPr varScale="1">
      <p:scale>
        <a:sx n="100" d="100"/>
        <a:sy n="100" d="100"/>
      </p:scale>
      <p:origin x="0" y="-1757"/>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 Watkins" userId="8f390d74bad77d8d" providerId="LiveId" clId="{ED71470D-C100-4DCC-880C-DA7C49F84EF5}"/>
    <pc:docChg chg="undo custSel addSld delSld modSld sldOrd">
      <pc:chgData name="Matt Watkins" userId="8f390d74bad77d8d" providerId="LiveId" clId="{ED71470D-C100-4DCC-880C-DA7C49F84EF5}" dt="2024-08-01T19:32:48.882" v="3739" actId="20577"/>
      <pc:docMkLst>
        <pc:docMk/>
      </pc:docMkLst>
      <pc:sldChg chg="del">
        <pc:chgData name="Matt Watkins" userId="8f390d74bad77d8d" providerId="LiveId" clId="{ED71470D-C100-4DCC-880C-DA7C49F84EF5}" dt="2024-08-01T19:11:47.797" v="3542" actId="47"/>
        <pc:sldMkLst>
          <pc:docMk/>
          <pc:sldMk cId="1039759085" sldId="256"/>
        </pc:sldMkLst>
      </pc:sldChg>
      <pc:sldChg chg="addSp modSp mod">
        <pc:chgData name="Matt Watkins" userId="8f390d74bad77d8d" providerId="LiveId" clId="{ED71470D-C100-4DCC-880C-DA7C49F84EF5}" dt="2024-08-01T19:28:39.657" v="3671" actId="113"/>
        <pc:sldMkLst>
          <pc:docMk/>
          <pc:sldMk cId="837402205" sldId="264"/>
        </pc:sldMkLst>
        <pc:spChg chg="add mod">
          <ac:chgData name="Matt Watkins" userId="8f390d74bad77d8d" providerId="LiveId" clId="{ED71470D-C100-4DCC-880C-DA7C49F84EF5}" dt="2024-08-01T19:28:39.657" v="3671" actId="113"/>
          <ac:spMkLst>
            <pc:docMk/>
            <pc:sldMk cId="837402205" sldId="264"/>
            <ac:spMk id="3" creationId="{7CAE7B52-97C0-CD1E-C82C-674063E0947B}"/>
          </ac:spMkLst>
        </pc:spChg>
        <pc:spChg chg="mod">
          <ac:chgData name="Matt Watkins" userId="8f390d74bad77d8d" providerId="LiveId" clId="{ED71470D-C100-4DCC-880C-DA7C49F84EF5}" dt="2024-08-01T17:37:31.505" v="109" actId="255"/>
          <ac:spMkLst>
            <pc:docMk/>
            <pc:sldMk cId="837402205" sldId="264"/>
            <ac:spMk id="11" creationId="{FF0FD1A0-C075-EE18-B3AE-363C242D0BCE}"/>
          </ac:spMkLst>
        </pc:spChg>
        <pc:spChg chg="mod">
          <ac:chgData name="Matt Watkins" userId="8f390d74bad77d8d" providerId="LiveId" clId="{ED71470D-C100-4DCC-880C-DA7C49F84EF5}" dt="2024-08-01T17:53:28.984" v="921" actId="1076"/>
          <ac:spMkLst>
            <pc:docMk/>
            <pc:sldMk cId="837402205" sldId="264"/>
            <ac:spMk id="20" creationId="{7C987B03-58AE-7E8A-A1C7-83569FBBCD1F}"/>
          </ac:spMkLst>
        </pc:spChg>
        <pc:spChg chg="mod">
          <ac:chgData name="Matt Watkins" userId="8f390d74bad77d8d" providerId="LiveId" clId="{ED71470D-C100-4DCC-880C-DA7C49F84EF5}" dt="2024-08-01T19:20:49.267" v="3570" actId="20577"/>
          <ac:spMkLst>
            <pc:docMk/>
            <pc:sldMk cId="837402205" sldId="264"/>
            <ac:spMk id="34" creationId="{C69167C3-302B-24DE-9CF7-D85D5D5DD20A}"/>
          </ac:spMkLst>
        </pc:spChg>
      </pc:sldChg>
      <pc:sldChg chg="del">
        <pc:chgData name="Matt Watkins" userId="8f390d74bad77d8d" providerId="LiveId" clId="{ED71470D-C100-4DCC-880C-DA7C49F84EF5}" dt="2024-08-01T19:11:46.011" v="3540" actId="47"/>
        <pc:sldMkLst>
          <pc:docMk/>
          <pc:sldMk cId="1721841647" sldId="266"/>
        </pc:sldMkLst>
      </pc:sldChg>
      <pc:sldChg chg="del">
        <pc:chgData name="Matt Watkins" userId="8f390d74bad77d8d" providerId="LiveId" clId="{ED71470D-C100-4DCC-880C-DA7C49F84EF5}" dt="2024-08-01T19:11:54.734" v="3543" actId="47"/>
        <pc:sldMkLst>
          <pc:docMk/>
          <pc:sldMk cId="4259977132" sldId="268"/>
        </pc:sldMkLst>
      </pc:sldChg>
      <pc:sldChg chg="modSp mod">
        <pc:chgData name="Matt Watkins" userId="8f390d74bad77d8d" providerId="LiveId" clId="{ED71470D-C100-4DCC-880C-DA7C49F84EF5}" dt="2024-08-01T19:19:16.246" v="3547" actId="20577"/>
        <pc:sldMkLst>
          <pc:docMk/>
          <pc:sldMk cId="435195399" sldId="283"/>
        </pc:sldMkLst>
        <pc:spChg chg="mod">
          <ac:chgData name="Matt Watkins" userId="8f390d74bad77d8d" providerId="LiveId" clId="{ED71470D-C100-4DCC-880C-DA7C49F84EF5}" dt="2024-08-01T19:19:16.246" v="3547" actId="20577"/>
          <ac:spMkLst>
            <pc:docMk/>
            <pc:sldMk cId="435195399" sldId="283"/>
            <ac:spMk id="20" creationId="{826664CC-F0B7-D2E1-A321-E97944F52EA3}"/>
          </ac:spMkLst>
        </pc:spChg>
      </pc:sldChg>
      <pc:sldChg chg="del">
        <pc:chgData name="Matt Watkins" userId="8f390d74bad77d8d" providerId="LiveId" clId="{ED71470D-C100-4DCC-880C-DA7C49F84EF5}" dt="2024-08-01T19:11:59.381" v="3545" actId="47"/>
        <pc:sldMkLst>
          <pc:docMk/>
          <pc:sldMk cId="3604630649" sldId="285"/>
        </pc:sldMkLst>
      </pc:sldChg>
      <pc:sldChg chg="modSp mod">
        <pc:chgData name="Matt Watkins" userId="8f390d74bad77d8d" providerId="LiveId" clId="{ED71470D-C100-4DCC-880C-DA7C49F84EF5}" dt="2024-08-01T19:25:47.566" v="3670" actId="20577"/>
        <pc:sldMkLst>
          <pc:docMk/>
          <pc:sldMk cId="3854442470" sldId="287"/>
        </pc:sldMkLst>
        <pc:spChg chg="mod">
          <ac:chgData name="Matt Watkins" userId="8f390d74bad77d8d" providerId="LiveId" clId="{ED71470D-C100-4DCC-880C-DA7C49F84EF5}" dt="2024-08-01T18:35:41.209" v="2013" actId="20577"/>
          <ac:spMkLst>
            <pc:docMk/>
            <pc:sldMk cId="3854442470" sldId="287"/>
            <ac:spMk id="26" creationId="{D715DBBC-70C2-E94B-9B03-12910F0B5438}"/>
          </ac:spMkLst>
        </pc:spChg>
        <pc:spChg chg="mod">
          <ac:chgData name="Matt Watkins" userId="8f390d74bad77d8d" providerId="LiveId" clId="{ED71470D-C100-4DCC-880C-DA7C49F84EF5}" dt="2024-08-01T19:25:47.566" v="3670" actId="20577"/>
          <ac:spMkLst>
            <pc:docMk/>
            <pc:sldMk cId="3854442470" sldId="287"/>
            <ac:spMk id="33" creationId="{D3AEB1C4-FB60-9B8E-5A02-0BCD2B6E55C7}"/>
          </ac:spMkLst>
        </pc:spChg>
      </pc:sldChg>
      <pc:sldChg chg="addSp modSp mod">
        <pc:chgData name="Matt Watkins" userId="8f390d74bad77d8d" providerId="LiveId" clId="{ED71470D-C100-4DCC-880C-DA7C49F84EF5}" dt="2024-08-01T19:32:48.882" v="3739" actId="20577"/>
        <pc:sldMkLst>
          <pc:docMk/>
          <pc:sldMk cId="2676905442" sldId="289"/>
        </pc:sldMkLst>
        <pc:spChg chg="add mod">
          <ac:chgData name="Matt Watkins" userId="8f390d74bad77d8d" providerId="LiveId" clId="{ED71470D-C100-4DCC-880C-DA7C49F84EF5}" dt="2024-08-01T19:32:48.882" v="3739" actId="20577"/>
          <ac:spMkLst>
            <pc:docMk/>
            <pc:sldMk cId="2676905442" sldId="289"/>
            <ac:spMk id="2" creationId="{504AC313-DA63-0F30-CD36-73B3BFB4CE2C}"/>
          </ac:spMkLst>
        </pc:spChg>
        <pc:spChg chg="mod">
          <ac:chgData name="Matt Watkins" userId="8f390d74bad77d8d" providerId="LiveId" clId="{ED71470D-C100-4DCC-880C-DA7C49F84EF5}" dt="2024-08-01T19:32:06.672" v="3692" actId="1076"/>
          <ac:spMkLst>
            <pc:docMk/>
            <pc:sldMk cId="2676905442" sldId="289"/>
            <ac:spMk id="3" creationId="{68A5FD2B-E3E5-1C2B-0151-21F216B14A33}"/>
          </ac:spMkLst>
        </pc:spChg>
        <pc:spChg chg="mod">
          <ac:chgData name="Matt Watkins" userId="8f390d74bad77d8d" providerId="LiveId" clId="{ED71470D-C100-4DCC-880C-DA7C49F84EF5}" dt="2024-08-01T19:32:12.922" v="3694" actId="1076"/>
          <ac:spMkLst>
            <pc:docMk/>
            <pc:sldMk cId="2676905442" sldId="289"/>
            <ac:spMk id="4" creationId="{ACFBB810-3430-2C29-1AA0-9744AA0A1AA3}"/>
          </ac:spMkLst>
        </pc:spChg>
        <pc:spChg chg="mod">
          <ac:chgData name="Matt Watkins" userId="8f390d74bad77d8d" providerId="LiveId" clId="{ED71470D-C100-4DCC-880C-DA7C49F84EF5}" dt="2024-08-01T19:23:43.406" v="3591" actId="122"/>
          <ac:spMkLst>
            <pc:docMk/>
            <pc:sldMk cId="2676905442" sldId="289"/>
            <ac:spMk id="17" creationId="{EBA544F6-BF8C-2C87-3906-146BEDB4C299}"/>
          </ac:spMkLst>
        </pc:spChg>
      </pc:sldChg>
      <pc:sldChg chg="del">
        <pc:chgData name="Matt Watkins" userId="8f390d74bad77d8d" providerId="LiveId" clId="{ED71470D-C100-4DCC-880C-DA7C49F84EF5}" dt="2024-08-01T19:11:46.927" v="3541" actId="47"/>
        <pc:sldMkLst>
          <pc:docMk/>
          <pc:sldMk cId="2201125929" sldId="292"/>
        </pc:sldMkLst>
      </pc:sldChg>
      <pc:sldChg chg="del">
        <pc:chgData name="Matt Watkins" userId="8f390d74bad77d8d" providerId="LiveId" clId="{ED71470D-C100-4DCC-880C-DA7C49F84EF5}" dt="2024-08-01T19:11:41.925" v="3538" actId="47"/>
        <pc:sldMkLst>
          <pc:docMk/>
          <pc:sldMk cId="3695820081" sldId="293"/>
        </pc:sldMkLst>
      </pc:sldChg>
      <pc:sldChg chg="del">
        <pc:chgData name="Matt Watkins" userId="8f390d74bad77d8d" providerId="LiveId" clId="{ED71470D-C100-4DCC-880C-DA7C49F84EF5}" dt="2024-08-01T19:12:04.932" v="3546" actId="47"/>
        <pc:sldMkLst>
          <pc:docMk/>
          <pc:sldMk cId="2770959368" sldId="294"/>
        </pc:sldMkLst>
      </pc:sldChg>
      <pc:sldChg chg="del">
        <pc:chgData name="Matt Watkins" userId="8f390d74bad77d8d" providerId="LiveId" clId="{ED71470D-C100-4DCC-880C-DA7C49F84EF5}" dt="2024-08-01T19:11:45.038" v="3539" actId="47"/>
        <pc:sldMkLst>
          <pc:docMk/>
          <pc:sldMk cId="1605306264" sldId="295"/>
        </pc:sldMkLst>
      </pc:sldChg>
      <pc:sldChg chg="del">
        <pc:chgData name="Matt Watkins" userId="8f390d74bad77d8d" providerId="LiveId" clId="{ED71470D-C100-4DCC-880C-DA7C49F84EF5}" dt="2024-08-01T19:11:57.184" v="3544" actId="47"/>
        <pc:sldMkLst>
          <pc:docMk/>
          <pc:sldMk cId="370479512" sldId="296"/>
        </pc:sldMkLst>
      </pc:sldChg>
      <pc:sldChg chg="modSp add mod ord">
        <pc:chgData name="Matt Watkins" userId="8f390d74bad77d8d" providerId="LiveId" clId="{ED71470D-C100-4DCC-880C-DA7C49F84EF5}" dt="2024-08-01T19:23:15.672" v="3588" actId="1076"/>
        <pc:sldMkLst>
          <pc:docMk/>
          <pc:sldMk cId="663522885" sldId="297"/>
        </pc:sldMkLst>
        <pc:spChg chg="mod">
          <ac:chgData name="Matt Watkins" userId="8f390d74bad77d8d" providerId="LiveId" clId="{ED71470D-C100-4DCC-880C-DA7C49F84EF5}" dt="2024-08-01T19:23:09.169" v="3586" actId="1076"/>
          <ac:spMkLst>
            <pc:docMk/>
            <pc:sldMk cId="663522885" sldId="297"/>
            <ac:spMk id="3" creationId="{68A5FD2B-E3E5-1C2B-0151-21F216B14A33}"/>
          </ac:spMkLst>
        </pc:spChg>
        <pc:spChg chg="mod">
          <ac:chgData name="Matt Watkins" userId="8f390d74bad77d8d" providerId="LiveId" clId="{ED71470D-C100-4DCC-880C-DA7C49F84EF5}" dt="2024-08-01T19:23:12.152" v="3587" actId="1076"/>
          <ac:spMkLst>
            <pc:docMk/>
            <pc:sldMk cId="663522885" sldId="297"/>
            <ac:spMk id="4" creationId="{ACFBB810-3430-2C29-1AA0-9744AA0A1AA3}"/>
          </ac:spMkLst>
        </pc:spChg>
        <pc:spChg chg="mod">
          <ac:chgData name="Matt Watkins" userId="8f390d74bad77d8d" providerId="LiveId" clId="{ED71470D-C100-4DCC-880C-DA7C49F84EF5}" dt="2024-08-01T19:23:15.672" v="3588" actId="1076"/>
          <ac:spMkLst>
            <pc:docMk/>
            <pc:sldMk cId="663522885" sldId="297"/>
            <ac:spMk id="17" creationId="{EBA544F6-BF8C-2C87-3906-146BEDB4C299}"/>
          </ac:spMkLst>
        </pc:spChg>
      </pc:sldChg>
      <pc:sldChg chg="modSp add mod ord">
        <pc:chgData name="Matt Watkins" userId="8f390d74bad77d8d" providerId="LiveId" clId="{ED71470D-C100-4DCC-880C-DA7C49F84EF5}" dt="2024-08-01T19:06:11.743" v="3537" actId="20577"/>
        <pc:sldMkLst>
          <pc:docMk/>
          <pc:sldMk cId="3748721295" sldId="298"/>
        </pc:sldMkLst>
        <pc:spChg chg="mod">
          <ac:chgData name="Matt Watkins" userId="8f390d74bad77d8d" providerId="LiveId" clId="{ED71470D-C100-4DCC-880C-DA7C49F84EF5}" dt="2024-08-01T18:47:54.849" v="2856" actId="20577"/>
          <ac:spMkLst>
            <pc:docMk/>
            <pc:sldMk cId="3748721295" sldId="298"/>
            <ac:spMk id="3" creationId="{68A5FD2B-E3E5-1C2B-0151-21F216B14A33}"/>
          </ac:spMkLst>
        </pc:spChg>
        <pc:spChg chg="mod">
          <ac:chgData name="Matt Watkins" userId="8f390d74bad77d8d" providerId="LiveId" clId="{ED71470D-C100-4DCC-880C-DA7C49F84EF5}" dt="2024-08-01T19:06:11.743" v="3537" actId="20577"/>
          <ac:spMkLst>
            <pc:docMk/>
            <pc:sldMk cId="3748721295" sldId="298"/>
            <ac:spMk id="4" creationId="{ACFBB810-3430-2C29-1AA0-9744AA0A1AA3}"/>
          </ac:spMkLst>
        </pc:spChg>
        <pc:spChg chg="mod">
          <ac:chgData name="Matt Watkins" userId="8f390d74bad77d8d" providerId="LiveId" clId="{ED71470D-C100-4DCC-880C-DA7C49F84EF5}" dt="2024-08-01T18:43:52.930" v="2466" actId="20577"/>
          <ac:spMkLst>
            <pc:docMk/>
            <pc:sldMk cId="3748721295" sldId="298"/>
            <ac:spMk id="17" creationId="{EBA544F6-BF8C-2C87-3906-146BEDB4C299}"/>
          </ac:spMkLst>
        </pc:spChg>
      </pc:sldChg>
      <pc:sldChg chg="delSp modSp add mod">
        <pc:chgData name="Matt Watkins" userId="8f390d74bad77d8d" providerId="LiveId" clId="{ED71470D-C100-4DCC-880C-DA7C49F84EF5}" dt="2024-08-01T19:31:31.164" v="3685" actId="1076"/>
        <pc:sldMkLst>
          <pc:docMk/>
          <pc:sldMk cId="656097254" sldId="299"/>
        </pc:sldMkLst>
        <pc:spChg chg="del mod">
          <ac:chgData name="Matt Watkins" userId="8f390d74bad77d8d" providerId="LiveId" clId="{ED71470D-C100-4DCC-880C-DA7C49F84EF5}" dt="2024-08-01T19:31:23.239" v="3684" actId="478"/>
          <ac:spMkLst>
            <pc:docMk/>
            <pc:sldMk cId="656097254" sldId="299"/>
            <ac:spMk id="3" creationId="{68A5FD2B-E3E5-1C2B-0151-21F216B14A33}"/>
          </ac:spMkLst>
        </pc:spChg>
        <pc:spChg chg="mod">
          <ac:chgData name="Matt Watkins" userId="8f390d74bad77d8d" providerId="LiveId" clId="{ED71470D-C100-4DCC-880C-DA7C49F84EF5}" dt="2024-08-01T19:31:31.164" v="3685" actId="1076"/>
          <ac:spMkLst>
            <pc:docMk/>
            <pc:sldMk cId="656097254" sldId="299"/>
            <ac:spMk id="4" creationId="{ACFBB810-3430-2C29-1AA0-9744AA0A1AA3}"/>
          </ac:spMkLst>
        </pc:spChg>
      </pc:sldChg>
      <pc:sldMasterChg chg="delSldLayout">
        <pc:chgData name="Matt Watkins" userId="8f390d74bad77d8d" providerId="LiveId" clId="{ED71470D-C100-4DCC-880C-DA7C49F84EF5}" dt="2024-08-01T19:12:04.932" v="3546" actId="47"/>
        <pc:sldMasterMkLst>
          <pc:docMk/>
          <pc:sldMasterMk cId="110910551" sldId="2147483799"/>
        </pc:sldMasterMkLst>
        <pc:sldLayoutChg chg="del">
          <pc:chgData name="Matt Watkins" userId="8f390d74bad77d8d" providerId="LiveId" clId="{ED71470D-C100-4DCC-880C-DA7C49F84EF5}" dt="2024-08-01T19:11:47.797" v="3542" actId="47"/>
          <pc:sldLayoutMkLst>
            <pc:docMk/>
            <pc:sldMasterMk cId="110910551" sldId="2147483799"/>
            <pc:sldLayoutMk cId="2228195901" sldId="2147483811"/>
          </pc:sldLayoutMkLst>
        </pc:sldLayoutChg>
        <pc:sldLayoutChg chg="del">
          <pc:chgData name="Matt Watkins" userId="8f390d74bad77d8d" providerId="LiveId" clId="{ED71470D-C100-4DCC-880C-DA7C49F84EF5}" dt="2024-08-01T19:11:46.927" v="3541" actId="47"/>
          <pc:sldLayoutMkLst>
            <pc:docMk/>
            <pc:sldMasterMk cId="110910551" sldId="2147483799"/>
            <pc:sldLayoutMk cId="2103417331" sldId="2147483812"/>
          </pc:sldLayoutMkLst>
        </pc:sldLayoutChg>
        <pc:sldLayoutChg chg="del">
          <pc:chgData name="Matt Watkins" userId="8f390d74bad77d8d" providerId="LiveId" clId="{ED71470D-C100-4DCC-880C-DA7C49F84EF5}" dt="2024-08-01T19:11:46.011" v="3540" actId="47"/>
          <pc:sldLayoutMkLst>
            <pc:docMk/>
            <pc:sldMasterMk cId="110910551" sldId="2147483799"/>
            <pc:sldLayoutMk cId="625334386" sldId="2147483813"/>
          </pc:sldLayoutMkLst>
        </pc:sldLayoutChg>
        <pc:sldLayoutChg chg="del">
          <pc:chgData name="Matt Watkins" userId="8f390d74bad77d8d" providerId="LiveId" clId="{ED71470D-C100-4DCC-880C-DA7C49F84EF5}" dt="2024-08-01T19:11:45.038" v="3539" actId="47"/>
          <pc:sldLayoutMkLst>
            <pc:docMk/>
            <pc:sldMasterMk cId="110910551" sldId="2147483799"/>
            <pc:sldLayoutMk cId="3735779588" sldId="2147483814"/>
          </pc:sldLayoutMkLst>
        </pc:sldLayoutChg>
        <pc:sldLayoutChg chg="del">
          <pc:chgData name="Matt Watkins" userId="8f390d74bad77d8d" providerId="LiveId" clId="{ED71470D-C100-4DCC-880C-DA7C49F84EF5}" dt="2024-08-01T19:11:41.925" v="3538" actId="47"/>
          <pc:sldLayoutMkLst>
            <pc:docMk/>
            <pc:sldMasterMk cId="110910551" sldId="2147483799"/>
            <pc:sldLayoutMk cId="3748583640" sldId="2147483815"/>
          </pc:sldLayoutMkLst>
        </pc:sldLayoutChg>
        <pc:sldLayoutChg chg="del">
          <pc:chgData name="Matt Watkins" userId="8f390d74bad77d8d" providerId="LiveId" clId="{ED71470D-C100-4DCC-880C-DA7C49F84EF5}" dt="2024-08-01T19:11:54.734" v="3543" actId="47"/>
          <pc:sldLayoutMkLst>
            <pc:docMk/>
            <pc:sldMasterMk cId="110910551" sldId="2147483799"/>
            <pc:sldLayoutMk cId="3555291847" sldId="2147483819"/>
          </pc:sldLayoutMkLst>
        </pc:sldLayoutChg>
        <pc:sldLayoutChg chg="del">
          <pc:chgData name="Matt Watkins" userId="8f390d74bad77d8d" providerId="LiveId" clId="{ED71470D-C100-4DCC-880C-DA7C49F84EF5}" dt="2024-08-01T19:11:57.184" v="3544" actId="47"/>
          <pc:sldLayoutMkLst>
            <pc:docMk/>
            <pc:sldMasterMk cId="110910551" sldId="2147483799"/>
            <pc:sldLayoutMk cId="1486826485" sldId="2147483820"/>
          </pc:sldLayoutMkLst>
        </pc:sldLayoutChg>
        <pc:sldLayoutChg chg="del">
          <pc:chgData name="Matt Watkins" userId="8f390d74bad77d8d" providerId="LiveId" clId="{ED71470D-C100-4DCC-880C-DA7C49F84EF5}" dt="2024-08-01T19:11:59.381" v="3545" actId="47"/>
          <pc:sldLayoutMkLst>
            <pc:docMk/>
            <pc:sldMasterMk cId="110910551" sldId="2147483799"/>
            <pc:sldLayoutMk cId="2386264458" sldId="2147483821"/>
          </pc:sldLayoutMkLst>
        </pc:sldLayoutChg>
        <pc:sldLayoutChg chg="del">
          <pc:chgData name="Matt Watkins" userId="8f390d74bad77d8d" providerId="LiveId" clId="{ED71470D-C100-4DCC-880C-DA7C49F84EF5}" dt="2024-08-01T19:12:04.932" v="3546" actId="47"/>
          <pc:sldLayoutMkLst>
            <pc:docMk/>
            <pc:sldMasterMk cId="110910551" sldId="2147483799"/>
            <pc:sldLayoutMk cId="3289231115" sldId="2147483822"/>
          </pc:sldLayoutMkLst>
        </pc:sldLayoutChg>
      </pc:sldMasterChg>
    </pc:docChg>
  </pc:docChgLst>
  <pc:docChgLst>
    <pc:chgData name="Matt Watkins" userId="8f390d74bad77d8d" providerId="LiveId" clId="{9C1A2300-6861-4C47-B36C-71BDA40ABBE3}"/>
    <pc:docChg chg="custSel modSld">
      <pc:chgData name="Matt Watkins" userId="8f390d74bad77d8d" providerId="LiveId" clId="{9C1A2300-6861-4C47-B36C-71BDA40ABBE3}" dt="2024-08-19T00:51:03.758" v="292" actId="20577"/>
      <pc:docMkLst>
        <pc:docMk/>
      </pc:docMkLst>
      <pc:sldChg chg="modSp mod">
        <pc:chgData name="Matt Watkins" userId="8f390d74bad77d8d" providerId="LiveId" clId="{9C1A2300-6861-4C47-B36C-71BDA40ABBE3}" dt="2024-08-01T22:42:17.592" v="91" actId="1076"/>
        <pc:sldMkLst>
          <pc:docMk/>
          <pc:sldMk cId="837402205" sldId="264"/>
        </pc:sldMkLst>
        <pc:spChg chg="mod">
          <ac:chgData name="Matt Watkins" userId="8f390d74bad77d8d" providerId="LiveId" clId="{9C1A2300-6861-4C47-B36C-71BDA40ABBE3}" dt="2024-08-01T22:42:17.592" v="91" actId="1076"/>
          <ac:spMkLst>
            <pc:docMk/>
            <pc:sldMk cId="837402205" sldId="264"/>
            <ac:spMk id="3" creationId="{7CAE7B52-97C0-CD1E-C82C-674063E0947B}"/>
          </ac:spMkLst>
        </pc:spChg>
      </pc:sldChg>
      <pc:sldChg chg="modSp mod">
        <pc:chgData name="Matt Watkins" userId="8f390d74bad77d8d" providerId="LiveId" clId="{9C1A2300-6861-4C47-B36C-71BDA40ABBE3}" dt="2024-08-01T22:47:29.129" v="92" actId="1076"/>
        <pc:sldMkLst>
          <pc:docMk/>
          <pc:sldMk cId="2676905442" sldId="289"/>
        </pc:sldMkLst>
        <pc:spChg chg="mod">
          <ac:chgData name="Matt Watkins" userId="8f390d74bad77d8d" providerId="LiveId" clId="{9C1A2300-6861-4C47-B36C-71BDA40ABBE3}" dt="2024-08-01T22:47:29.129" v="92" actId="1076"/>
          <ac:spMkLst>
            <pc:docMk/>
            <pc:sldMk cId="2676905442" sldId="289"/>
            <ac:spMk id="2" creationId="{504AC313-DA63-0F30-CD36-73B3BFB4CE2C}"/>
          </ac:spMkLst>
        </pc:spChg>
      </pc:sldChg>
      <pc:sldChg chg="modSp mod">
        <pc:chgData name="Matt Watkins" userId="8f390d74bad77d8d" providerId="LiveId" clId="{9C1A2300-6861-4C47-B36C-71BDA40ABBE3}" dt="2024-08-19T00:51:03.758" v="292" actId="20577"/>
        <pc:sldMkLst>
          <pc:docMk/>
          <pc:sldMk cId="3748721295" sldId="298"/>
        </pc:sldMkLst>
        <pc:spChg chg="mod">
          <ac:chgData name="Matt Watkins" userId="8f390d74bad77d8d" providerId="LiveId" clId="{9C1A2300-6861-4C47-B36C-71BDA40ABBE3}" dt="2024-08-19T00:51:03.758" v="292" actId="20577"/>
          <ac:spMkLst>
            <pc:docMk/>
            <pc:sldMk cId="3748721295" sldId="298"/>
            <ac:spMk id="4" creationId="{ACFBB810-3430-2C29-1AA0-9744AA0A1AA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8/18/2024</a:t>
            </a:fld>
            <a:endParaRPr lang="en-US" dirty="0"/>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dirty="0"/>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8/15/2024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dirty="0"/>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dirty="0"/>
          </a:p>
        </p:txBody>
      </p:sp>
    </p:spTree>
    <p:extLst>
      <p:ext uri="{BB962C8B-B14F-4D97-AF65-F5344CB8AC3E}">
        <p14:creationId xmlns:p14="http://schemas.microsoft.com/office/powerpoint/2010/main" val="1657027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dirty="0"/>
          </a:p>
        </p:txBody>
      </p:sp>
    </p:spTree>
    <p:extLst>
      <p:ext uri="{BB962C8B-B14F-4D97-AF65-F5344CB8AC3E}">
        <p14:creationId xmlns:p14="http://schemas.microsoft.com/office/powerpoint/2010/main" val="3690289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dirty="0"/>
          </a:p>
        </p:txBody>
      </p:sp>
    </p:spTree>
    <p:extLst>
      <p:ext uri="{BB962C8B-B14F-4D97-AF65-F5344CB8AC3E}">
        <p14:creationId xmlns:p14="http://schemas.microsoft.com/office/powerpoint/2010/main" val="4290642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dirty="0"/>
          </a:p>
        </p:txBody>
      </p:sp>
    </p:spTree>
    <p:extLst>
      <p:ext uri="{BB962C8B-B14F-4D97-AF65-F5344CB8AC3E}">
        <p14:creationId xmlns:p14="http://schemas.microsoft.com/office/powerpoint/2010/main" val="2047023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dirty="0"/>
          </a:p>
        </p:txBody>
      </p:sp>
    </p:spTree>
    <p:extLst>
      <p:ext uri="{BB962C8B-B14F-4D97-AF65-F5344CB8AC3E}">
        <p14:creationId xmlns:p14="http://schemas.microsoft.com/office/powerpoint/2010/main" val="1554573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6</a:t>
            </a:fld>
            <a:endParaRPr lang="en-US" dirty="0"/>
          </a:p>
        </p:txBody>
      </p:sp>
    </p:spTree>
    <p:extLst>
      <p:ext uri="{BB962C8B-B14F-4D97-AF65-F5344CB8AC3E}">
        <p14:creationId xmlns:p14="http://schemas.microsoft.com/office/powerpoint/2010/main" val="1174803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7</a:t>
            </a:fld>
            <a:endParaRPr lang="en-US" dirty="0"/>
          </a:p>
        </p:txBody>
      </p:sp>
    </p:spTree>
    <p:extLst>
      <p:ext uri="{BB962C8B-B14F-4D97-AF65-F5344CB8AC3E}">
        <p14:creationId xmlns:p14="http://schemas.microsoft.com/office/powerpoint/2010/main" val="2264557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129685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90880"/>
            <a:ext cx="11267440" cy="1143000"/>
          </a:xfrm>
        </p:spPr>
        <p:txBody>
          <a:bodyPr/>
          <a:lstStyle>
            <a:lvl1pPr>
              <a:defRPr/>
            </a:lvl1pPr>
          </a:lstStyle>
          <a:p>
            <a:r>
              <a:rPr lang="en-US" dirty="0"/>
              <a:t>Click to add title</a:t>
            </a:r>
          </a:p>
        </p:txBody>
      </p:sp>
      <p:sp>
        <p:nvSpPr>
          <p:cNvPr id="9" name="Content Placeholder 3">
            <a:extLst>
              <a:ext uri="{FF2B5EF4-FFF2-40B4-BE49-F238E27FC236}">
                <a16:creationId xmlns:a16="http://schemas.microsoft.com/office/drawing/2014/main" id="{ECA520B1-DC84-A47D-1F5E-CCD567EB2D86}"/>
              </a:ext>
            </a:extLst>
          </p:cNvPr>
          <p:cNvSpPr>
            <a:spLocks noGrp="1"/>
          </p:cNvSpPr>
          <p:nvPr>
            <p:ph sz="half" idx="13" hasCustomPrompt="1"/>
          </p:nvPr>
        </p:nvSpPr>
        <p:spPr>
          <a:xfrm>
            <a:off x="457200" y="2187362"/>
            <a:ext cx="3657600" cy="3633047"/>
          </a:xfrm>
        </p:spPr>
        <p:txBody>
          <a:bodyPr anchor="t">
            <a:normAutofit/>
          </a:bodyPr>
          <a:lstStyle>
            <a:lvl1pPr marL="342900" indent="-342900">
              <a:buFont typeface="+mj-lt"/>
              <a:buAutoNum type="arabicPeriod"/>
              <a:defRPr sz="1800"/>
            </a:lvl1pPr>
            <a:lvl2pPr marL="914400" indent="-342900">
              <a:buFont typeface="+mj-lt"/>
              <a:buAutoNum type="alphaLcPeriod"/>
              <a:defRPr sz="1800"/>
            </a:lvl2pPr>
            <a:lvl3pPr marL="1371600" indent="-342900">
              <a:buFont typeface="+mj-lt"/>
              <a:buAutoNum type="arabicPeriod"/>
              <a:defRPr sz="1800"/>
            </a:lvl3pPr>
            <a:lvl4pPr marL="1600200" indent="-342900">
              <a:buFont typeface="+mj-lt"/>
              <a:buAutoNum type="alphaLcParenR"/>
              <a:defRPr sz="1800"/>
            </a:lvl4pPr>
            <a:lvl5pPr marL="2057400" indent="-40005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282437" y="2187361"/>
            <a:ext cx="7442203" cy="3633047"/>
          </a:xfrm>
        </p:spPr>
        <p:txBody>
          <a:bodyPr anchor="t">
            <a:normAutofit/>
          </a:bodyPr>
          <a:lstStyle>
            <a:lvl1pPr marL="0" indent="0">
              <a:buNone/>
              <a:defRPr sz="1800"/>
            </a:lvl1pPr>
            <a:lvl2pPr marL="0">
              <a:defRPr sz="1800"/>
            </a:lvl2pPr>
            <a:lvl3pPr marL="548640">
              <a:defRPr sz="1800"/>
            </a:lvl3pPr>
            <a:lvl4pPr marL="822960">
              <a:defRPr sz="1800"/>
            </a:lvl4pPr>
            <a:lvl5pPr marL="109728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457200" y="6423914"/>
            <a:ext cx="7041202" cy="365125"/>
          </a:xfrm>
        </p:spPr>
        <p:txBody>
          <a:bodyPr/>
          <a:lstStyle/>
          <a:p>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7" name="Slide Number Placeholder 6"/>
          <p:cNvSpPr>
            <a:spLocks noGrp="1"/>
          </p:cNvSpPr>
          <p:nvPr>
            <p:ph type="sldNum" sz="quarter" idx="12"/>
          </p:nvPr>
        </p:nvSpPr>
        <p:spPr>
          <a:xfrm>
            <a:off x="10558300" y="6423914"/>
            <a:ext cx="1166340"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9833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6108219" y="741363"/>
            <a:ext cx="5626579" cy="1286219"/>
          </a:xfrm>
        </p:spPr>
        <p:txBody>
          <a:bodyPr anchor="b">
            <a:noAutofit/>
          </a:bodyPr>
          <a:lstStyle>
            <a:lvl1pPr algn="l">
              <a:defRPr sz="28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CBE840D-FAED-31D9-AF31-112670D0FA2E}"/>
              </a:ext>
            </a:extLst>
          </p:cNvPr>
          <p:cNvSpPr>
            <a:spLocks noGrp="1"/>
          </p:cNvSpPr>
          <p:nvPr>
            <p:ph type="pic" sz="quarter" idx="13"/>
          </p:nvPr>
        </p:nvSpPr>
        <p:spPr>
          <a:xfrm>
            <a:off x="457200" y="761684"/>
            <a:ext cx="5171440" cy="5662230"/>
          </a:xfrm>
          <a:custGeom>
            <a:avLst/>
            <a:gdLst>
              <a:gd name="connsiteX0" fmla="*/ 0 w 5171440"/>
              <a:gd name="connsiteY0" fmla="*/ 5056400 h 5662230"/>
              <a:gd name="connsiteX1" fmla="*/ 3685975 w 5171440"/>
              <a:gd name="connsiteY1" fmla="*/ 5056400 h 5662230"/>
              <a:gd name="connsiteX2" fmla="*/ 3685975 w 5171440"/>
              <a:gd name="connsiteY2" fmla="*/ 5662230 h 5662230"/>
              <a:gd name="connsiteX3" fmla="*/ 0 w 5171440"/>
              <a:gd name="connsiteY3" fmla="*/ 5662230 h 5662230"/>
              <a:gd name="connsiteX4" fmla="*/ 3789884 w 5171440"/>
              <a:gd name="connsiteY4" fmla="*/ 0 h 5662230"/>
              <a:gd name="connsiteX5" fmla="*/ 5171440 w 5171440"/>
              <a:gd name="connsiteY5" fmla="*/ 0 h 5662230"/>
              <a:gd name="connsiteX6" fmla="*/ 5171440 w 5171440"/>
              <a:gd name="connsiteY6" fmla="*/ 5662230 h 5662230"/>
              <a:gd name="connsiteX7" fmla="*/ 3789884 w 5171440"/>
              <a:gd name="connsiteY7" fmla="*/ 5662230 h 5662230"/>
              <a:gd name="connsiteX8" fmla="*/ 3789884 w 5171440"/>
              <a:gd name="connsiteY8" fmla="*/ 5056400 h 5662230"/>
              <a:gd name="connsiteX9" fmla="*/ 5168980 w 5171440"/>
              <a:gd name="connsiteY9" fmla="*/ 5056400 h 5662230"/>
              <a:gd name="connsiteX10" fmla="*/ 5168980 w 5171440"/>
              <a:gd name="connsiteY10" fmla="*/ 4956108 h 5662230"/>
              <a:gd name="connsiteX11" fmla="*/ 3789884 w 5171440"/>
              <a:gd name="connsiteY11" fmla="*/ 4956108 h 5662230"/>
              <a:gd name="connsiteX12" fmla="*/ 0 w 5171440"/>
              <a:gd name="connsiteY12" fmla="*/ 0 h 5662230"/>
              <a:gd name="connsiteX13" fmla="*/ 3685975 w 5171440"/>
              <a:gd name="connsiteY13" fmla="*/ 0 h 5662230"/>
              <a:gd name="connsiteX14" fmla="*/ 3685975 w 5171440"/>
              <a:gd name="connsiteY14" fmla="*/ 4956108 h 5662230"/>
              <a:gd name="connsiteX15" fmla="*/ 0 w 5171440"/>
              <a:gd name="connsiteY15" fmla="*/ 4956108 h 566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71440" h="5662230">
                <a:moveTo>
                  <a:pt x="0" y="5056400"/>
                </a:moveTo>
                <a:lnTo>
                  <a:pt x="3685975" y="5056400"/>
                </a:lnTo>
                <a:lnTo>
                  <a:pt x="3685975" y="5662230"/>
                </a:lnTo>
                <a:lnTo>
                  <a:pt x="0" y="5662230"/>
                </a:lnTo>
                <a:close/>
                <a:moveTo>
                  <a:pt x="3789884" y="0"/>
                </a:moveTo>
                <a:lnTo>
                  <a:pt x="5171440" y="0"/>
                </a:lnTo>
                <a:lnTo>
                  <a:pt x="5171440" y="5662230"/>
                </a:lnTo>
                <a:lnTo>
                  <a:pt x="3789884" y="5662230"/>
                </a:lnTo>
                <a:lnTo>
                  <a:pt x="3789884" y="5056400"/>
                </a:lnTo>
                <a:lnTo>
                  <a:pt x="5168980" y="5056400"/>
                </a:lnTo>
                <a:lnTo>
                  <a:pt x="5168980" y="4956108"/>
                </a:lnTo>
                <a:lnTo>
                  <a:pt x="3789884" y="4956108"/>
                </a:lnTo>
                <a:close/>
                <a:moveTo>
                  <a:pt x="0" y="0"/>
                </a:moveTo>
                <a:lnTo>
                  <a:pt x="3685975" y="0"/>
                </a:lnTo>
                <a:lnTo>
                  <a:pt x="3685975" y="4956108"/>
                </a:lnTo>
                <a:lnTo>
                  <a:pt x="0" y="4956108"/>
                </a:lnTo>
                <a:close/>
              </a:path>
            </a:pathLst>
          </a:custGeom>
          <a:solidFill>
            <a:schemeClr val="accent2"/>
          </a:solidFill>
        </p:spPr>
        <p:txBody>
          <a:bodyPr wrap="square">
            <a:noAutofit/>
          </a:bodyPr>
          <a:lstStyle/>
          <a:p>
            <a:r>
              <a:rPr lang="en-US"/>
              <a:t>Click icon to add picture</a:t>
            </a:r>
            <a:endParaRPr lang="en-US" dirty="0"/>
          </a:p>
        </p:txBody>
      </p:sp>
      <p:sp>
        <p:nvSpPr>
          <p:cNvPr id="10" name="Content Placeholder 2">
            <a:extLst>
              <a:ext uri="{FF2B5EF4-FFF2-40B4-BE49-F238E27FC236}">
                <a16:creationId xmlns:a16="http://schemas.microsoft.com/office/drawing/2014/main" id="{1E22983C-26B8-DE15-E309-D0E93B8C6996}"/>
              </a:ext>
            </a:extLst>
          </p:cNvPr>
          <p:cNvSpPr>
            <a:spLocks noGrp="1"/>
          </p:cNvSpPr>
          <p:nvPr>
            <p:ph idx="1" hasCustomPrompt="1"/>
          </p:nvPr>
        </p:nvSpPr>
        <p:spPr>
          <a:xfrm>
            <a:off x="6106160" y="2235200"/>
            <a:ext cx="5628639" cy="4188713"/>
          </a:xfrm>
        </p:spPr>
        <p:txBody>
          <a:bodyPr anchor="t" anchorCtr="0">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a:xfrm>
            <a:off x="10682289" y="6423914"/>
            <a:ext cx="1052510" cy="365125"/>
          </a:xfrm>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052633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6" r:id="rId12"/>
    <p:sldLayoutId id="2147483817" r:id="rId13"/>
    <p:sldLayoutId id="2147483818" r:id="rId14"/>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xfrm>
            <a:off x="1524000" y="1143000"/>
            <a:ext cx="9144000" cy="924951"/>
          </a:xfrm>
          <a:noFill/>
        </p:spPr>
        <p:txBody>
          <a:bodyPr/>
          <a:lstStyle/>
          <a:p>
            <a:r>
              <a:rPr lang="en-US" dirty="0"/>
              <a:t>The Importance of filters</a:t>
            </a:r>
          </a:p>
        </p:txBody>
      </p:sp>
      <p:sp>
        <p:nvSpPr>
          <p:cNvPr id="20" name="Subtitle 2">
            <a:extLst>
              <a:ext uri="{FF2B5EF4-FFF2-40B4-BE49-F238E27FC236}">
                <a16:creationId xmlns:a16="http://schemas.microsoft.com/office/drawing/2014/main" id="{826664CC-F0B7-D2E1-A321-E97944F52EA3}"/>
              </a:ext>
            </a:extLst>
          </p:cNvPr>
          <p:cNvSpPr>
            <a:spLocks noGrp="1"/>
          </p:cNvSpPr>
          <p:nvPr>
            <p:ph type="subTitle" idx="1"/>
          </p:nvPr>
        </p:nvSpPr>
        <p:spPr>
          <a:xfrm>
            <a:off x="1524000" y="2321169"/>
            <a:ext cx="9144000" cy="3530991"/>
          </a:xfrm>
          <a:noFill/>
        </p:spPr>
        <p:txBody>
          <a:bodyPr anchor="t"/>
          <a:lstStyle/>
          <a:p>
            <a:r>
              <a:rPr lang="en-US" sz="2800" dirty="0"/>
              <a:t>Adding onto the original model, House of Hope tasked us with adding filters to the model. </a:t>
            </a:r>
          </a:p>
          <a:p>
            <a:r>
              <a:rPr lang="en-US" sz="2800" dirty="0"/>
              <a:t>First, we needed to justify using the filters. To do this, we filtered the data, then ran correlation matrix’ on the filtered data. </a:t>
            </a:r>
          </a:p>
          <a:p>
            <a:r>
              <a:rPr lang="en-US" sz="2800" dirty="0"/>
              <a:t>What we were looking for were differences in which columns held higher correlation to the success column when the various filters were applied.</a:t>
            </a:r>
          </a:p>
        </p:txBody>
      </p:sp>
    </p:spTree>
    <p:extLst>
      <p:ext uri="{BB962C8B-B14F-4D97-AF65-F5344CB8AC3E}">
        <p14:creationId xmlns:p14="http://schemas.microsoft.com/office/powerpoint/2010/main" val="43519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0FD1A0-C075-EE18-B3AE-363C242D0BCE}"/>
              </a:ext>
            </a:extLst>
          </p:cNvPr>
          <p:cNvSpPr>
            <a:spLocks noGrp="1"/>
          </p:cNvSpPr>
          <p:nvPr>
            <p:ph type="title"/>
          </p:nvPr>
        </p:nvSpPr>
        <p:spPr>
          <a:xfrm>
            <a:off x="457200" y="703385"/>
            <a:ext cx="11267440" cy="1659987"/>
          </a:xfrm>
        </p:spPr>
        <p:txBody>
          <a:bodyPr>
            <a:normAutofit/>
          </a:bodyPr>
          <a:lstStyle/>
          <a:p>
            <a:r>
              <a:rPr lang="en-US" sz="4400" dirty="0"/>
              <a:t>What did the filters show?</a:t>
            </a:r>
            <a:br>
              <a:rPr lang="en-US" sz="4400" dirty="0"/>
            </a:br>
            <a:r>
              <a:rPr lang="en-US" sz="2000" dirty="0"/>
              <a:t>Every time a filter was applied, The top correlated columns changed</a:t>
            </a:r>
          </a:p>
        </p:txBody>
      </p:sp>
      <p:sp>
        <p:nvSpPr>
          <p:cNvPr id="34" name="Content Placeholder 33">
            <a:extLst>
              <a:ext uri="{FF2B5EF4-FFF2-40B4-BE49-F238E27FC236}">
                <a16:creationId xmlns:a16="http://schemas.microsoft.com/office/drawing/2014/main" id="{C69167C3-302B-24DE-9CF7-D85D5D5DD20A}"/>
              </a:ext>
            </a:extLst>
          </p:cNvPr>
          <p:cNvSpPr>
            <a:spLocks noGrp="1"/>
          </p:cNvSpPr>
          <p:nvPr>
            <p:ph sz="half" idx="13"/>
          </p:nvPr>
        </p:nvSpPr>
        <p:spPr>
          <a:xfrm>
            <a:off x="457200" y="2647269"/>
            <a:ext cx="3657600" cy="2809923"/>
          </a:xfrm>
        </p:spPr>
        <p:txBody>
          <a:bodyPr/>
          <a:lstStyle/>
          <a:p>
            <a:pPr marL="0" indent="0">
              <a:buNone/>
            </a:pPr>
            <a:r>
              <a:rPr lang="en-US" u="sng" dirty="0"/>
              <a:t>For the Gender filter</a:t>
            </a:r>
            <a:r>
              <a:rPr lang="en-US" dirty="0"/>
              <a:t>:</a:t>
            </a:r>
          </a:p>
          <a:p>
            <a:pPr marL="0" indent="0">
              <a:buNone/>
            </a:pPr>
            <a:r>
              <a:rPr lang="en-US" b="1" dirty="0"/>
              <a:t>Men</a:t>
            </a:r>
            <a:r>
              <a:rPr lang="en-US" dirty="0"/>
              <a:t> showed that the </a:t>
            </a:r>
            <a:r>
              <a:rPr lang="en-US" b="1" dirty="0"/>
              <a:t>substance</a:t>
            </a:r>
            <a:r>
              <a:rPr lang="en-US" dirty="0"/>
              <a:t> they had higher correlation to success.</a:t>
            </a:r>
          </a:p>
          <a:p>
            <a:pPr marL="0" indent="0">
              <a:buNone/>
            </a:pPr>
            <a:r>
              <a:rPr lang="en-US" b="1" dirty="0"/>
              <a:t>Women</a:t>
            </a:r>
            <a:r>
              <a:rPr lang="en-US" dirty="0"/>
              <a:t> showed that </a:t>
            </a:r>
            <a:r>
              <a:rPr lang="en-US" b="1" dirty="0"/>
              <a:t>participation in support groups</a:t>
            </a:r>
            <a:r>
              <a:rPr lang="en-US" dirty="0"/>
              <a:t> had a higher correlation to success.</a:t>
            </a:r>
          </a:p>
        </p:txBody>
      </p:sp>
      <p:sp>
        <p:nvSpPr>
          <p:cNvPr id="20" name="Content Placeholder 3">
            <a:extLst>
              <a:ext uri="{FF2B5EF4-FFF2-40B4-BE49-F238E27FC236}">
                <a16:creationId xmlns:a16="http://schemas.microsoft.com/office/drawing/2014/main" id="{7C987B03-58AE-7E8A-A1C7-83569FBBCD1F}"/>
              </a:ext>
            </a:extLst>
          </p:cNvPr>
          <p:cNvSpPr>
            <a:spLocks noGrp="1"/>
          </p:cNvSpPr>
          <p:nvPr>
            <p:ph sz="half" idx="2"/>
          </p:nvPr>
        </p:nvSpPr>
        <p:spPr>
          <a:xfrm>
            <a:off x="4114800" y="2647269"/>
            <a:ext cx="3342252" cy="2809923"/>
          </a:xfrm>
          <a:noFill/>
        </p:spPr>
        <p:txBody>
          <a:bodyPr>
            <a:normAutofit/>
          </a:bodyPr>
          <a:lstStyle/>
          <a:p>
            <a:r>
              <a:rPr lang="en-US" u="sng" dirty="0"/>
              <a:t>For the Age filter</a:t>
            </a:r>
            <a:r>
              <a:rPr lang="en-US" dirty="0"/>
              <a:t>:</a:t>
            </a:r>
          </a:p>
          <a:p>
            <a:r>
              <a:rPr lang="en-US" b="1" dirty="0"/>
              <a:t>Younger</a:t>
            </a:r>
            <a:r>
              <a:rPr lang="en-US" dirty="0"/>
              <a:t> participants showed </a:t>
            </a:r>
            <a:r>
              <a:rPr lang="en-US" b="1" dirty="0"/>
              <a:t>living arrangements and employment </a:t>
            </a:r>
            <a:r>
              <a:rPr lang="en-US" dirty="0"/>
              <a:t>to be more highly correlated to success</a:t>
            </a:r>
          </a:p>
          <a:p>
            <a:r>
              <a:rPr lang="en-US" b="1" dirty="0"/>
              <a:t>Older</a:t>
            </a:r>
            <a:r>
              <a:rPr lang="en-US" dirty="0"/>
              <a:t> participants showed </a:t>
            </a:r>
            <a:r>
              <a:rPr lang="en-US" b="1" dirty="0"/>
              <a:t>support groups</a:t>
            </a:r>
            <a:r>
              <a:rPr lang="en-US" dirty="0"/>
              <a:t> as having a higher correlation to success.</a:t>
            </a:r>
          </a:p>
        </p:txBody>
      </p:sp>
      <p:sp>
        <p:nvSpPr>
          <p:cNvPr id="3" name="TextBox 2">
            <a:extLst>
              <a:ext uri="{FF2B5EF4-FFF2-40B4-BE49-F238E27FC236}">
                <a16:creationId xmlns:a16="http://schemas.microsoft.com/office/drawing/2014/main" id="{7CAE7B52-97C0-CD1E-C82C-674063E0947B}"/>
              </a:ext>
            </a:extLst>
          </p:cNvPr>
          <p:cNvSpPr txBox="1"/>
          <p:nvPr/>
        </p:nvSpPr>
        <p:spPr>
          <a:xfrm>
            <a:off x="7772400" y="2618262"/>
            <a:ext cx="3812344" cy="3536353"/>
          </a:xfrm>
          <a:prstGeom prst="rect">
            <a:avLst/>
          </a:prstGeom>
          <a:noFill/>
        </p:spPr>
        <p:txBody>
          <a:bodyPr wrap="square">
            <a:spAutoFit/>
          </a:bodyPr>
          <a:lstStyle/>
          <a:p>
            <a:pPr>
              <a:spcBef>
                <a:spcPct val="20000"/>
              </a:spcBef>
              <a:spcAft>
                <a:spcPts val="600"/>
              </a:spcAft>
              <a:buClr>
                <a:schemeClr val="accent1"/>
              </a:buClr>
              <a:buSzPct val="92000"/>
            </a:pPr>
            <a:r>
              <a:rPr lang="en-US" u="sng" dirty="0">
                <a:solidFill>
                  <a:schemeClr val="tx1">
                    <a:lumMod val="75000"/>
                    <a:lumOff val="25000"/>
                  </a:schemeClr>
                </a:solidFill>
              </a:rPr>
              <a:t>For the Arrests filter:</a:t>
            </a:r>
          </a:p>
          <a:p>
            <a:pPr>
              <a:spcBef>
                <a:spcPct val="20000"/>
              </a:spcBef>
              <a:spcAft>
                <a:spcPts val="600"/>
              </a:spcAft>
              <a:buClr>
                <a:schemeClr val="accent1"/>
              </a:buClr>
              <a:buSzPct val="92000"/>
            </a:pPr>
            <a:r>
              <a:rPr lang="en-US" b="1" dirty="0">
                <a:solidFill>
                  <a:schemeClr val="tx1">
                    <a:lumMod val="75000"/>
                    <a:lumOff val="25000"/>
                  </a:schemeClr>
                </a:solidFill>
              </a:rPr>
              <a:t>No arrests</a:t>
            </a:r>
            <a:r>
              <a:rPr lang="en-US" dirty="0">
                <a:solidFill>
                  <a:schemeClr val="tx1">
                    <a:lumMod val="75000"/>
                    <a:lumOff val="25000"/>
                  </a:schemeClr>
                </a:solidFill>
              </a:rPr>
              <a:t> benefited more from </a:t>
            </a:r>
            <a:r>
              <a:rPr lang="en-US" b="1" dirty="0">
                <a:solidFill>
                  <a:schemeClr val="tx1">
                    <a:lumMod val="75000"/>
                    <a:lumOff val="25000"/>
                  </a:schemeClr>
                </a:solidFill>
              </a:rPr>
              <a:t>medication assisted therapy</a:t>
            </a:r>
            <a:r>
              <a:rPr lang="en-US" dirty="0">
                <a:solidFill>
                  <a:schemeClr val="tx1">
                    <a:lumMod val="75000"/>
                    <a:lumOff val="25000"/>
                  </a:schemeClr>
                </a:solidFill>
              </a:rPr>
              <a:t>.</a:t>
            </a:r>
          </a:p>
          <a:p>
            <a:pPr>
              <a:spcBef>
                <a:spcPct val="20000"/>
              </a:spcBef>
              <a:spcAft>
                <a:spcPts val="600"/>
              </a:spcAft>
              <a:buClr>
                <a:schemeClr val="accent1"/>
              </a:buClr>
              <a:buSzPct val="92000"/>
            </a:pPr>
            <a:r>
              <a:rPr lang="en-US" dirty="0">
                <a:solidFill>
                  <a:schemeClr val="tx1">
                    <a:lumMod val="75000"/>
                    <a:lumOff val="25000"/>
                  </a:schemeClr>
                </a:solidFill>
              </a:rPr>
              <a:t>Participants with </a:t>
            </a:r>
            <a:r>
              <a:rPr lang="en-US" b="1" dirty="0">
                <a:solidFill>
                  <a:schemeClr val="tx1">
                    <a:lumMod val="75000"/>
                    <a:lumOff val="25000"/>
                  </a:schemeClr>
                </a:solidFill>
              </a:rPr>
              <a:t>a single arrest </a:t>
            </a:r>
            <a:r>
              <a:rPr lang="en-US" dirty="0">
                <a:solidFill>
                  <a:schemeClr val="tx1">
                    <a:lumMod val="75000"/>
                    <a:lumOff val="25000"/>
                  </a:schemeClr>
                </a:solidFill>
              </a:rPr>
              <a:t>benefited more from </a:t>
            </a:r>
            <a:r>
              <a:rPr lang="en-US" b="1" dirty="0">
                <a:solidFill>
                  <a:schemeClr val="tx1">
                    <a:lumMod val="75000"/>
                    <a:lumOff val="25000"/>
                  </a:schemeClr>
                </a:solidFill>
              </a:rPr>
              <a:t>support groups</a:t>
            </a:r>
            <a:r>
              <a:rPr lang="en-US" dirty="0">
                <a:solidFill>
                  <a:schemeClr val="tx1">
                    <a:lumMod val="75000"/>
                    <a:lumOff val="25000"/>
                  </a:schemeClr>
                </a:solidFill>
              </a:rPr>
              <a:t>.</a:t>
            </a:r>
          </a:p>
          <a:p>
            <a:pPr>
              <a:spcBef>
                <a:spcPct val="20000"/>
              </a:spcBef>
              <a:spcAft>
                <a:spcPts val="600"/>
              </a:spcAft>
              <a:buClr>
                <a:schemeClr val="accent1"/>
              </a:buClr>
              <a:buSzPct val="92000"/>
            </a:pPr>
            <a:r>
              <a:rPr lang="en-US" dirty="0">
                <a:solidFill>
                  <a:schemeClr val="tx1">
                    <a:lumMod val="75000"/>
                    <a:lumOff val="25000"/>
                  </a:schemeClr>
                </a:solidFill>
              </a:rPr>
              <a:t>Participants with </a:t>
            </a:r>
            <a:r>
              <a:rPr lang="en-US" b="1" dirty="0">
                <a:solidFill>
                  <a:schemeClr val="tx1">
                    <a:lumMod val="75000"/>
                    <a:lumOff val="25000"/>
                  </a:schemeClr>
                </a:solidFill>
              </a:rPr>
              <a:t>2 or more arrests </a:t>
            </a:r>
            <a:r>
              <a:rPr lang="en-US" dirty="0">
                <a:solidFill>
                  <a:schemeClr val="tx1">
                    <a:lumMod val="75000"/>
                    <a:lumOff val="25000"/>
                  </a:schemeClr>
                </a:solidFill>
              </a:rPr>
              <a:t>saw the most success when </a:t>
            </a:r>
            <a:r>
              <a:rPr lang="en-US" b="1" dirty="0">
                <a:solidFill>
                  <a:schemeClr val="tx1">
                    <a:lumMod val="75000"/>
                    <a:lumOff val="25000"/>
                  </a:schemeClr>
                </a:solidFill>
              </a:rPr>
              <a:t>treatment for co-existing psychological and substance abuse disorders</a:t>
            </a:r>
            <a:r>
              <a:rPr lang="en-US" dirty="0">
                <a:solidFill>
                  <a:schemeClr val="tx1">
                    <a:lumMod val="75000"/>
                    <a:lumOff val="25000"/>
                  </a:schemeClr>
                </a:solidFill>
              </a:rPr>
              <a:t> was given.</a:t>
            </a:r>
          </a:p>
        </p:txBody>
      </p:sp>
    </p:spTree>
    <p:extLst>
      <p:ext uri="{BB962C8B-B14F-4D97-AF65-F5344CB8AC3E}">
        <p14:creationId xmlns:p14="http://schemas.microsoft.com/office/powerpoint/2010/main" val="837402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a:xfrm>
            <a:off x="457200" y="986301"/>
            <a:ext cx="11267440" cy="1095717"/>
          </a:xfrm>
        </p:spPr>
        <p:txBody>
          <a:bodyPr>
            <a:normAutofit fontScale="90000"/>
          </a:bodyPr>
          <a:lstStyle/>
          <a:p>
            <a:r>
              <a:rPr lang="en-US" sz="4900" dirty="0"/>
              <a:t>What did the filters show?</a:t>
            </a:r>
            <a:br>
              <a:rPr lang="en-US" sz="5400" dirty="0"/>
            </a:br>
            <a:r>
              <a:rPr lang="en-US" sz="2700" dirty="0"/>
              <a:t>Every time a filter was applied, The top correlated columns changed</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794824" y="2597212"/>
            <a:ext cx="3657600" cy="3633047"/>
          </a:xfrm>
          <a:noFill/>
        </p:spPr>
        <p:txBody>
          <a:bodyPr>
            <a:normAutofit/>
          </a:bodyPr>
          <a:lstStyle/>
          <a:p>
            <a:pPr marL="0" indent="0" algn="ctr">
              <a:buNone/>
            </a:pPr>
            <a:r>
              <a:rPr lang="en-US" sz="2200" b="1" dirty="0"/>
              <a:t>Even though the order of importance changed for each substance, </a:t>
            </a:r>
            <a:r>
              <a:rPr lang="en-US" sz="2200" b="1" i="1" u="sng" dirty="0"/>
              <a:t>Support groups</a:t>
            </a:r>
            <a:r>
              <a:rPr lang="en-US" sz="2200" b="1" dirty="0"/>
              <a:t>, </a:t>
            </a:r>
            <a:r>
              <a:rPr lang="en-US" sz="2200" b="1" i="1" u="sng" dirty="0"/>
              <a:t>Stable Living Arrangements</a:t>
            </a:r>
            <a:r>
              <a:rPr lang="en-US" sz="2200" b="1" dirty="0"/>
              <a:t>, and </a:t>
            </a:r>
            <a:r>
              <a:rPr lang="en-US" sz="2200" b="1" i="1" u="sng" dirty="0"/>
              <a:t>Stable Employment</a:t>
            </a:r>
            <a:r>
              <a:rPr lang="en-US" sz="2200" b="1" dirty="0"/>
              <a:t> were regularly in the 10 ten list of most correlated items for successful treatment</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5359791" y="2597212"/>
            <a:ext cx="6364849" cy="3979759"/>
          </a:xfrm>
          <a:noFill/>
        </p:spPr>
        <p:txBody>
          <a:bodyPr>
            <a:normAutofit/>
          </a:bodyPr>
          <a:lstStyle/>
          <a:p>
            <a:r>
              <a:rPr lang="en-US" sz="2200" b="1" dirty="0"/>
              <a:t>Veterans valued employment over group support, Non-veterans benefited more from support groups</a:t>
            </a:r>
          </a:p>
          <a:p>
            <a:endParaRPr lang="en-US" sz="2000" b="0" dirty="0">
              <a:solidFill>
                <a:srgbClr val="CCCCCC"/>
              </a:solidFill>
              <a:effectLst/>
              <a:highlight>
                <a:srgbClr val="1F1F1F"/>
              </a:highlight>
              <a:latin typeface="Consolas" panose="020B0609020204030204" pitchFamily="49" charset="0"/>
            </a:endParaRPr>
          </a:p>
          <a:p>
            <a:endParaRPr lang="en-US" sz="2000" b="0" dirty="0">
              <a:solidFill>
                <a:srgbClr val="CCCCCC"/>
              </a:solidFill>
              <a:effectLst/>
              <a:highlight>
                <a:srgbClr val="1F1F1F"/>
              </a:highlight>
              <a:latin typeface="Consolas" panose="020B0609020204030204" pitchFamily="49" charset="0"/>
            </a:endParaRPr>
          </a:p>
          <a:p>
            <a:r>
              <a:rPr lang="en-US" sz="2200" b="1" dirty="0"/>
              <a:t>Even Census Division proved to changed the top correlated columns for successful treatment.</a:t>
            </a:r>
          </a:p>
          <a:p>
            <a:endParaRPr lang="en-US" sz="20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663522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a:xfrm>
            <a:off x="462280" y="1037592"/>
            <a:ext cx="11267440" cy="603348"/>
          </a:xfrm>
        </p:spPr>
        <p:txBody>
          <a:bodyPr>
            <a:normAutofit/>
          </a:bodyPr>
          <a:lstStyle/>
          <a:p>
            <a:pPr algn="ctr"/>
            <a:r>
              <a:rPr lang="en-US" sz="3200" dirty="0"/>
              <a:t>Interesting Findings during the filter testing</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6096000" y="2342272"/>
            <a:ext cx="5416060" cy="4417255"/>
          </a:xfrm>
          <a:noFill/>
        </p:spPr>
        <p:txBody>
          <a:bodyPr>
            <a:normAutofit fontScale="70000" lnSpcReduction="20000"/>
          </a:bodyPr>
          <a:lstStyle/>
          <a:p>
            <a:pPr marL="0" indent="0" algn="ctr">
              <a:buNone/>
            </a:pPr>
            <a:r>
              <a:rPr lang="en-US" sz="2900" dirty="0"/>
              <a:t>Age at Admission:</a:t>
            </a:r>
          </a:p>
          <a:p>
            <a:pPr algn="ctr"/>
            <a:r>
              <a:rPr lang="en-US" sz="2300" dirty="0"/>
              <a:t>12–14 years, 54% success rates</a:t>
            </a:r>
          </a:p>
          <a:p>
            <a:pPr algn="ctr"/>
            <a:r>
              <a:rPr lang="en-US" sz="2300" dirty="0"/>
              <a:t>15–17 years, 54% success rates</a:t>
            </a:r>
          </a:p>
          <a:p>
            <a:pPr algn="ctr"/>
            <a:r>
              <a:rPr lang="en-US" sz="2300" dirty="0"/>
              <a:t>18–20 years, 54% success rates</a:t>
            </a:r>
          </a:p>
          <a:p>
            <a:pPr algn="ctr"/>
            <a:r>
              <a:rPr lang="en-US" sz="2300" dirty="0"/>
              <a:t>21–24 years, 59% success rates</a:t>
            </a:r>
          </a:p>
          <a:p>
            <a:pPr algn="ctr"/>
            <a:r>
              <a:rPr lang="en-US" sz="2300" dirty="0"/>
              <a:t>25–29 years, 61% success rates</a:t>
            </a:r>
          </a:p>
          <a:p>
            <a:pPr algn="ctr"/>
            <a:r>
              <a:rPr lang="en-US" sz="2300" dirty="0"/>
              <a:t>30–34 years, 62% success rates</a:t>
            </a:r>
          </a:p>
          <a:p>
            <a:pPr algn="ctr"/>
            <a:r>
              <a:rPr lang="en-US" sz="2300" dirty="0"/>
              <a:t>35–39 years, 63% success rates</a:t>
            </a:r>
          </a:p>
          <a:p>
            <a:pPr algn="ctr"/>
            <a:r>
              <a:rPr lang="en-US" sz="2300" dirty="0"/>
              <a:t>40–44 years, 64% success rates</a:t>
            </a:r>
          </a:p>
          <a:p>
            <a:pPr algn="ctr"/>
            <a:r>
              <a:rPr lang="en-US" sz="2300" dirty="0"/>
              <a:t>45–49 years, 65% success rates</a:t>
            </a:r>
          </a:p>
          <a:p>
            <a:pPr algn="ctr"/>
            <a:r>
              <a:rPr lang="en-US" sz="2300" dirty="0"/>
              <a:t>50–54 years, 66% success rates</a:t>
            </a:r>
          </a:p>
          <a:p>
            <a:pPr algn="ctr"/>
            <a:r>
              <a:rPr lang="en-US" sz="2300" dirty="0"/>
              <a:t>55–64 years, 69% success rates</a:t>
            </a:r>
          </a:p>
          <a:p>
            <a:pPr algn="ctr"/>
            <a:r>
              <a:rPr lang="en-US" sz="2300" dirty="0"/>
              <a:t>65 years +, 70% success rates</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462280" y="1906172"/>
            <a:ext cx="7152640" cy="4951828"/>
          </a:xfrm>
          <a:noFill/>
        </p:spPr>
        <p:txBody>
          <a:bodyPr>
            <a:normAutofit/>
          </a:bodyPr>
          <a:lstStyle/>
          <a:p>
            <a:endParaRPr lang="en-US" sz="2000" b="0" dirty="0">
              <a:solidFill>
                <a:srgbClr val="CCCCCC"/>
              </a:solidFill>
              <a:effectLst/>
              <a:highlight>
                <a:srgbClr val="1F1F1F"/>
              </a:highlight>
              <a:latin typeface="Consolas" panose="020B0609020204030204" pitchFamily="49" charset="0"/>
            </a:endParaRPr>
          </a:p>
          <a:p>
            <a:endParaRPr lang="en-US" sz="2000" b="0" dirty="0">
              <a:solidFill>
                <a:srgbClr val="CCCCCC"/>
              </a:solidFill>
              <a:effectLst/>
              <a:highlight>
                <a:srgbClr val="1F1F1F"/>
              </a:highlight>
              <a:latin typeface="Consolas" panose="020B0609020204030204" pitchFamily="49" charset="0"/>
            </a:endParaRPr>
          </a:p>
        </p:txBody>
      </p:sp>
      <p:sp>
        <p:nvSpPr>
          <p:cNvPr id="2" name="TextBox 1">
            <a:extLst>
              <a:ext uri="{FF2B5EF4-FFF2-40B4-BE49-F238E27FC236}">
                <a16:creationId xmlns:a16="http://schemas.microsoft.com/office/drawing/2014/main" id="{504AC313-DA63-0F30-CD36-73B3BFB4CE2C}"/>
              </a:ext>
            </a:extLst>
          </p:cNvPr>
          <p:cNvSpPr txBox="1"/>
          <p:nvPr/>
        </p:nvSpPr>
        <p:spPr>
          <a:xfrm>
            <a:off x="1084234" y="2518117"/>
            <a:ext cx="4389812" cy="1200329"/>
          </a:xfrm>
          <a:prstGeom prst="rect">
            <a:avLst/>
          </a:prstGeom>
          <a:noFill/>
        </p:spPr>
        <p:txBody>
          <a:bodyPr wrap="square" rtlCol="0">
            <a:spAutoFit/>
          </a:bodyPr>
          <a:lstStyle/>
          <a:p>
            <a:r>
              <a:rPr lang="en-US" dirty="0"/>
              <a:t>You can teach and old dog new tricks!!</a:t>
            </a:r>
          </a:p>
          <a:p>
            <a:endParaRPr lang="en-US" dirty="0"/>
          </a:p>
          <a:p>
            <a:r>
              <a:rPr lang="en-US" dirty="0"/>
              <a:t>Older participants showed a higher success rate that younger participants</a:t>
            </a:r>
          </a:p>
        </p:txBody>
      </p:sp>
    </p:spTree>
    <p:extLst>
      <p:ext uri="{BB962C8B-B14F-4D97-AF65-F5344CB8AC3E}">
        <p14:creationId xmlns:p14="http://schemas.microsoft.com/office/powerpoint/2010/main" val="267690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a:xfrm>
            <a:off x="462280" y="1037592"/>
            <a:ext cx="11267440" cy="603348"/>
          </a:xfrm>
        </p:spPr>
        <p:txBody>
          <a:bodyPr>
            <a:normAutofit/>
          </a:bodyPr>
          <a:lstStyle/>
          <a:p>
            <a:pPr algn="ctr"/>
            <a:r>
              <a:rPr lang="en-US" sz="3200" dirty="0"/>
              <a:t>Interesting Findings during the filter testing</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3179299" y="2053882"/>
            <a:ext cx="7152640" cy="4642338"/>
          </a:xfrm>
          <a:noFill/>
        </p:spPr>
        <p:txBody>
          <a:bodyPr>
            <a:normAutofit fontScale="70000" lnSpcReduction="20000"/>
          </a:bodyPr>
          <a:lstStyle/>
          <a:p>
            <a:r>
              <a:rPr lang="en-US" sz="2600" b="1" dirty="0"/>
              <a:t>Certain substances had higher success rates</a:t>
            </a:r>
            <a:r>
              <a:rPr lang="en-US" sz="2600" dirty="0"/>
              <a:t>:</a:t>
            </a:r>
          </a:p>
          <a:p>
            <a:pPr marL="457200" indent="-457200">
              <a:buFont typeface="+mj-lt"/>
              <a:buAutoNum type="arabicPeriod"/>
            </a:pPr>
            <a:r>
              <a:rPr lang="en-US" sz="2300" dirty="0"/>
              <a:t>Barbiturates 77% success rates</a:t>
            </a:r>
          </a:p>
          <a:p>
            <a:pPr marL="457200" indent="-457200">
              <a:buFont typeface="+mj-lt"/>
              <a:buAutoNum type="arabicPeriod"/>
            </a:pPr>
            <a:r>
              <a:rPr lang="en-US" sz="2300" dirty="0"/>
              <a:t>Non-prescription methadone 70% success rates</a:t>
            </a:r>
          </a:p>
          <a:p>
            <a:pPr marL="457200" indent="-457200">
              <a:buFont typeface="+mj-lt"/>
              <a:buAutoNum type="arabicPeriod"/>
            </a:pPr>
            <a:r>
              <a:rPr lang="en-US" sz="2300" dirty="0"/>
              <a:t>Alcohol 68% success rates</a:t>
            </a:r>
          </a:p>
          <a:p>
            <a:pPr marL="457200" indent="-457200">
              <a:buFont typeface="+mj-lt"/>
              <a:buAutoNum type="arabicPeriod"/>
            </a:pPr>
            <a:r>
              <a:rPr lang="en-US" sz="2300" dirty="0"/>
              <a:t>Benzodiazepines 67% success rates</a:t>
            </a:r>
          </a:p>
          <a:p>
            <a:pPr marL="457200" indent="-457200">
              <a:buFont typeface="+mj-lt"/>
              <a:buAutoNum type="arabicPeriod"/>
            </a:pPr>
            <a:r>
              <a:rPr lang="en-US" sz="2300" dirty="0"/>
              <a:t>Other opiates and synthetics 63% success rates</a:t>
            </a:r>
          </a:p>
          <a:p>
            <a:pPr marL="457200" indent="-457200">
              <a:buFont typeface="+mj-lt"/>
              <a:buAutoNum type="arabicPeriod"/>
            </a:pPr>
            <a:r>
              <a:rPr lang="en-US" sz="2300" dirty="0"/>
              <a:t>Methamphetamine/speed 62% success rates</a:t>
            </a:r>
          </a:p>
          <a:p>
            <a:pPr marL="457200" indent="-457200">
              <a:buFont typeface="+mj-lt"/>
              <a:buAutoNum type="arabicPeriod"/>
            </a:pPr>
            <a:r>
              <a:rPr lang="en-US" sz="2300" dirty="0"/>
              <a:t>Inhalants 61% success rates</a:t>
            </a:r>
          </a:p>
          <a:p>
            <a:pPr marL="457200" indent="-457200">
              <a:buFont typeface="+mj-lt"/>
              <a:buAutoNum type="arabicPeriod"/>
            </a:pPr>
            <a:r>
              <a:rPr lang="en-US" sz="2300" dirty="0"/>
              <a:t>Hallucinogens 58% success rates</a:t>
            </a:r>
          </a:p>
          <a:p>
            <a:pPr marL="457200" indent="-457200">
              <a:buFont typeface="+mj-lt"/>
              <a:buAutoNum type="arabicPeriod"/>
            </a:pPr>
            <a:r>
              <a:rPr lang="en-US" sz="2300" dirty="0"/>
              <a:t>Cocaine/crack 57% success rates</a:t>
            </a:r>
          </a:p>
          <a:p>
            <a:pPr marL="457200" indent="-457200">
              <a:buFont typeface="+mj-lt"/>
              <a:buAutoNum type="arabicPeriod"/>
            </a:pPr>
            <a:r>
              <a:rPr lang="en-US" sz="2300" dirty="0"/>
              <a:t>Heroin 57% success rates success rates</a:t>
            </a:r>
          </a:p>
          <a:p>
            <a:pPr marL="457200" indent="-457200">
              <a:buFont typeface="+mj-lt"/>
              <a:buAutoNum type="arabicPeriod"/>
            </a:pPr>
            <a:r>
              <a:rPr lang="en-US" sz="2300" dirty="0"/>
              <a:t>Over-the-counter medications 54% success rates</a:t>
            </a:r>
          </a:p>
          <a:p>
            <a:pPr marL="457200" indent="-457200">
              <a:buFont typeface="+mj-lt"/>
              <a:buAutoNum type="arabicPeriod"/>
            </a:pPr>
            <a:r>
              <a:rPr lang="en-US" sz="2300" dirty="0"/>
              <a:t>Marijuana/hashish 52% success rates</a:t>
            </a:r>
          </a:p>
          <a:p>
            <a:pPr marL="457200" indent="-457200">
              <a:buFont typeface="+mj-lt"/>
              <a:buAutoNum type="arabicPeriod"/>
            </a:pPr>
            <a:r>
              <a:rPr lang="en-US" sz="2300" dirty="0"/>
              <a:t>PCP 52% success rates</a:t>
            </a:r>
          </a:p>
          <a:p>
            <a:endParaRPr lang="en-US" sz="2000" b="0" dirty="0">
              <a:solidFill>
                <a:srgbClr val="CCCCCC"/>
              </a:solidFill>
              <a:effectLst/>
              <a:highlight>
                <a:srgbClr val="1F1F1F"/>
              </a:highlight>
              <a:latin typeface="Consolas" panose="020B0609020204030204" pitchFamily="49" charset="0"/>
            </a:endParaRPr>
          </a:p>
          <a:p>
            <a:endParaRPr lang="en-US" sz="20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656097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715DBBC-70C2-E94B-9B03-12910F0B5438}"/>
              </a:ext>
            </a:extLst>
          </p:cNvPr>
          <p:cNvSpPr>
            <a:spLocks noGrp="1"/>
          </p:cNvSpPr>
          <p:nvPr>
            <p:ph type="ctrTitle"/>
          </p:nvPr>
        </p:nvSpPr>
        <p:spPr/>
        <p:txBody>
          <a:bodyPr/>
          <a:lstStyle/>
          <a:p>
            <a:r>
              <a:rPr lang="en-US" dirty="0"/>
              <a:t>Dynamic Model,</a:t>
            </a:r>
            <a:br>
              <a:rPr lang="en-US" dirty="0"/>
            </a:br>
            <a:r>
              <a:rPr lang="en-US" dirty="0"/>
              <a:t>Larger dataset,</a:t>
            </a:r>
          </a:p>
        </p:txBody>
      </p:sp>
      <p:pic>
        <p:nvPicPr>
          <p:cNvPr id="21" name="Picture Placeholder 20" descr="Two people smiling while holding coffee">
            <a:extLst>
              <a:ext uri="{FF2B5EF4-FFF2-40B4-BE49-F238E27FC236}">
                <a16:creationId xmlns:a16="http://schemas.microsoft.com/office/drawing/2014/main" id="{75E7485A-FBCC-4222-2274-2B2A0804BC97}"/>
              </a:ext>
            </a:extLst>
          </p:cNvPr>
          <p:cNvPicPr>
            <a:picLocks noGrp="1" noChangeAspect="1"/>
          </p:cNvPicPr>
          <p:nvPr>
            <p:ph type="pic" sz="quarter" idx="13"/>
          </p:nvPr>
        </p:nvPicPr>
        <p:blipFill>
          <a:blip r:embed="rId3"/>
          <a:srcRect l="38" r="38"/>
          <a:stretch/>
        </p:blipFill>
        <p:spPr/>
      </p:pic>
      <p:sp>
        <p:nvSpPr>
          <p:cNvPr id="33" name="Content Placeholder 32">
            <a:extLst>
              <a:ext uri="{FF2B5EF4-FFF2-40B4-BE49-F238E27FC236}">
                <a16:creationId xmlns:a16="http://schemas.microsoft.com/office/drawing/2014/main" id="{D3AEB1C4-FB60-9B8E-5A02-0BCD2B6E55C7}"/>
              </a:ext>
            </a:extLst>
          </p:cNvPr>
          <p:cNvSpPr>
            <a:spLocks noGrp="1"/>
          </p:cNvSpPr>
          <p:nvPr>
            <p:ph idx="1"/>
          </p:nvPr>
        </p:nvSpPr>
        <p:spPr/>
        <p:txBody>
          <a:bodyPr>
            <a:normAutofit fontScale="92500" lnSpcReduction="20000"/>
          </a:bodyPr>
          <a:lstStyle/>
          <a:p>
            <a:r>
              <a:rPr lang="en-US" dirty="0"/>
              <a:t>The only way to address the changing needs of different people groups was to create a dynamic model</a:t>
            </a:r>
          </a:p>
          <a:p>
            <a:r>
              <a:rPr lang="en-US" dirty="0"/>
              <a:t>To keep the accuracy of the model while allowing it to be dynamic we needed more data</a:t>
            </a:r>
          </a:p>
          <a:p>
            <a:r>
              <a:rPr lang="en-US" dirty="0"/>
              <a:t>Our first model was </a:t>
            </a:r>
            <a:r>
              <a:rPr lang="en-US" u="sng" dirty="0"/>
              <a:t>1.7mil</a:t>
            </a:r>
            <a:r>
              <a:rPr lang="en-US" dirty="0"/>
              <a:t> cases from 2019, </a:t>
            </a:r>
          </a:p>
          <a:p>
            <a:r>
              <a:rPr lang="en-US" dirty="0"/>
              <a:t>This model uses </a:t>
            </a:r>
            <a:r>
              <a:rPr lang="en-US" u="sng" dirty="0"/>
              <a:t>6.4mil</a:t>
            </a:r>
            <a:r>
              <a:rPr lang="en-US" dirty="0"/>
              <a:t> cases from 2017-2020</a:t>
            </a:r>
          </a:p>
          <a:p>
            <a:r>
              <a:rPr lang="en-US" dirty="0"/>
              <a:t>With this new and larger dataset, we could now filter for specific people groups, while still having enough data to build an accurate model on.</a:t>
            </a:r>
          </a:p>
          <a:p>
            <a:r>
              <a:rPr lang="en-US" dirty="0"/>
              <a:t>The program now builds and trains a new model based on the filters passed to it through drop down menus.</a:t>
            </a:r>
          </a:p>
          <a:p>
            <a:endParaRPr lang="en-US" dirty="0"/>
          </a:p>
        </p:txBody>
      </p:sp>
    </p:spTree>
    <p:extLst>
      <p:ext uri="{BB962C8B-B14F-4D97-AF65-F5344CB8AC3E}">
        <p14:creationId xmlns:p14="http://schemas.microsoft.com/office/powerpoint/2010/main" val="385444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BA544F6-BF8C-2C87-3906-146BEDB4C299}"/>
              </a:ext>
            </a:extLst>
          </p:cNvPr>
          <p:cNvSpPr>
            <a:spLocks noGrp="1"/>
          </p:cNvSpPr>
          <p:nvPr>
            <p:ph type="title"/>
          </p:nvPr>
        </p:nvSpPr>
        <p:spPr>
          <a:xfrm>
            <a:off x="457200" y="690880"/>
            <a:ext cx="11267440" cy="603348"/>
          </a:xfrm>
        </p:spPr>
        <p:txBody>
          <a:bodyPr/>
          <a:lstStyle/>
          <a:p>
            <a:r>
              <a:rPr lang="en-US" dirty="0"/>
              <a:t>No longer Just Predictions</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xfrm>
            <a:off x="935501" y="2187361"/>
            <a:ext cx="3657600" cy="3633047"/>
          </a:xfrm>
          <a:noFill/>
        </p:spPr>
        <p:txBody>
          <a:bodyPr>
            <a:normAutofit fontScale="92500" lnSpcReduction="20000"/>
          </a:bodyPr>
          <a:lstStyle/>
          <a:p>
            <a:pPr marL="0" indent="0" algn="ctr">
              <a:buNone/>
            </a:pPr>
            <a:r>
              <a:rPr lang="en-US" sz="2200" b="1" dirty="0"/>
              <a:t>Our first model was designed to just predict success rates of potential candidates based on the entire dataset. The new model not only provides a prediction but also helps the individuals and facilities provide better treatment by providing top correlated objectives based on the statistics from the filters to what the AI sees as being related to success.</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5359791" y="2187361"/>
            <a:ext cx="6364849" cy="3979759"/>
          </a:xfrm>
          <a:noFill/>
        </p:spPr>
        <p:txBody>
          <a:bodyPr>
            <a:normAutofit/>
          </a:bodyPr>
          <a:lstStyle/>
          <a:p>
            <a:r>
              <a:rPr lang="en-US" sz="2000" b="1" dirty="0"/>
              <a:t>The </a:t>
            </a:r>
            <a:r>
              <a:rPr lang="en-US" sz="2000" b="1" dirty="0" err="1"/>
              <a:t>Gradiant</a:t>
            </a:r>
            <a:r>
              <a:rPr lang="en-US" sz="2000" b="1" dirty="0"/>
              <a:t> Boosting Machine Classifier combines the accuracy of a neural network with the simplicity of a classifier and produces the same accuracy in 1/5</a:t>
            </a:r>
            <a:r>
              <a:rPr lang="en-US" sz="2000" b="1" baseline="30000" dirty="0"/>
              <a:t>th</a:t>
            </a:r>
            <a:r>
              <a:rPr lang="en-US" sz="2000" b="1" dirty="0"/>
              <a:t> of the time.</a:t>
            </a:r>
          </a:p>
          <a:p>
            <a:r>
              <a:rPr lang="en-US" sz="2000" b="1" dirty="0"/>
              <a:t>The input, in this case, is the survey questions. </a:t>
            </a:r>
            <a:r>
              <a:rPr lang="en-US" sz="2000" b="1" dirty="0" err="1"/>
              <a:t>GBMClassifier</a:t>
            </a:r>
            <a:r>
              <a:rPr lang="en-US" sz="2000" b="1" dirty="0"/>
              <a:t> worked well for this with 100 hidden layers as the dataset would have 33 columns of data that it was ingesting to make a prediction of success and provide helpful success statistics.</a:t>
            </a:r>
          </a:p>
          <a:p>
            <a:endParaRPr lang="en-US" sz="2000" b="0" dirty="0">
              <a:solidFill>
                <a:srgbClr val="CCCCCC"/>
              </a:solidFill>
              <a:effectLst/>
              <a:highlight>
                <a:srgbClr val="1F1F1F"/>
              </a:highlight>
              <a:latin typeface="Consolas" panose="020B0609020204030204" pitchFamily="49" charset="0"/>
            </a:endParaRPr>
          </a:p>
          <a:p>
            <a:endParaRPr lang="en-US" sz="2000" b="0" dirty="0">
              <a:solidFill>
                <a:srgbClr val="CCCCCC"/>
              </a:solidFill>
              <a:effectLst/>
              <a:highlight>
                <a:srgbClr val="1F1F1F"/>
              </a:highlight>
              <a:latin typeface="Consolas" panose="020B0609020204030204" pitchFamily="49" charset="0"/>
            </a:endParaRPr>
          </a:p>
          <a:p>
            <a:endParaRPr lang="en-US" sz="20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748721295"/>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00B2AC-C335-4100-B8B3-2D9F49A729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037C456-A6DA-4DEE-A3FB-4EC3058FD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D1F84C-D1FD-4B1B-9CFD-8E0D96AC4DF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{2E5E4BC2-7DD8-4929-B5B9-D1FC26952EB6}tf45205285_win32</Template>
  <TotalTime>4966</TotalTime>
  <Words>742</Words>
  <Application>Microsoft Office PowerPoint</Application>
  <PresentationFormat>Widescreen</PresentationFormat>
  <Paragraphs>72</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Consolas</vt:lpstr>
      <vt:lpstr>Gill Sans MT</vt:lpstr>
      <vt:lpstr>Wingdings 2</vt:lpstr>
      <vt:lpstr>DividendVTI</vt:lpstr>
      <vt:lpstr>The Importance of filters</vt:lpstr>
      <vt:lpstr>What did the filters show? Every time a filter was applied, The top correlated columns changed</vt:lpstr>
      <vt:lpstr>What did the filters show? Every time a filter was applied, The top correlated columns changed</vt:lpstr>
      <vt:lpstr>Interesting Findings during the filter testing</vt:lpstr>
      <vt:lpstr>Interesting Findings during the filter testing</vt:lpstr>
      <vt:lpstr>Dynamic Model, Larger dataset,</vt:lpstr>
      <vt:lpstr>No longer Just Predictions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Watkins</dc:creator>
  <cp:lastModifiedBy>Matt Watkins</cp:lastModifiedBy>
  <cp:revision>1</cp:revision>
  <dcterms:created xsi:type="dcterms:W3CDTF">2024-08-01T17:27:49Z</dcterms:created>
  <dcterms:modified xsi:type="dcterms:W3CDTF">2024-08-19T00:51:12Z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